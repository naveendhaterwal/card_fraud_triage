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684ca4-3286-070a-3832-31110665d265}">
          <p14:sldIdLst>
            <p14:sldId id="256"/>
          </p14:sldIdLst>
        </p14:section>
        <p14:section name="Data" id="{c4fdf6d6-2326-6201-fa93-240519bace61}">
          <p14:sldIdLst>
            <p14:sldId id="257"/>
          </p14:sldIdLst>
        </p14:section>
        <p14:section name="Approach" id="{592e4ef7-e5b6-7f11-4481-da4eafba439e}">
          <p14:sldIdLst>
            <p14:sldId id="258"/>
            <p14:sldId id="259"/>
          </p14:sldIdLst>
        </p14:section>
        <p14:section name="Results" id="{8c5f52c1-e6e5-89f8-f20e-847f012c0325}">
          <p14:sldIdLst>
            <p14:sldId id="260"/>
            <p14:sldId id="261"/>
            <p14:sldId id="262"/>
          </p14:sldIdLst>
        </p14:section>
        <p14:section name="Team" id="{739ec00b-fc35-299f-fb60-4b0c2a3a891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A24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A2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0.078</c:v>
                </c:pt>
                <c:pt idx="1">
                  <c:v>0.238</c:v>
                </c:pt>
                <c:pt idx="2">
                  <c:v>1.451</c:v>
                </c:pt>
                <c:pt idx="3">
                  <c:v>0.488</c:v>
                </c:pt>
                <c:pt idx="4">
                  <c:v>1.044</c:v>
                </c:pt>
                <c:pt idx="5">
                  <c:v>0.368</c:v>
                </c:pt>
                <c:pt idx="6">
                  <c:v>0.22</c:v>
                </c:pt>
                <c:pt idx="7">
                  <c:v>0.318</c:v>
                </c:pt>
                <c:pt idx="8">
                  <c:v>0.088</c:v>
                </c:pt>
                <c:pt idx="9">
                  <c:v>0.135</c:v>
                </c:pt>
                <c:pt idx="10">
                  <c:v>0.024</c:v>
                </c:pt>
                <c:pt idx="11">
                  <c:v>0.507</c:v>
                </c:pt>
                <c:pt idx="12">
                  <c:v>0.117</c:v>
                </c:pt>
                <c:pt idx="13">
                  <c:v>0.119</c:v>
                </c:pt>
                <c:pt idx="14">
                  <c:v>0.162</c:v>
                </c:pt>
                <c:pt idx="15">
                  <c:v>0.179</c:v>
                </c:pt>
                <c:pt idx="16">
                  <c:v>0.18</c:v>
                </c:pt>
                <c:pt idx="17">
                  <c:v>0.152</c:v>
                </c:pt>
                <c:pt idx="18">
                  <c:v>0.117</c:v>
                </c:pt>
                <c:pt idx="19">
                  <c:v>0.088</c:v>
                </c:pt>
                <c:pt idx="20">
                  <c:v>0.089</c:v>
                </c:pt>
                <c:pt idx="21">
                  <c:v>0.142</c:v>
                </c:pt>
                <c:pt idx="22">
                  <c:v>0.034</c:v>
                </c:pt>
                <c:pt idx="23">
                  <c:v>0.215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Fraud rate (%)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A9B5C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€0–1.7</c:v>
                  </c:pt>
                  <c:pt idx="1">
                    <c:v>€1.7–6</c:v>
                  </c:pt>
                  <c:pt idx="2">
                    <c:v>€6–19</c:v>
                  </c:pt>
                  <c:pt idx="3">
                    <c:v>€19–54</c:v>
                  </c:pt>
                  <c:pt idx="4">
                    <c:v>€54–147</c:v>
                  </c:pt>
                  <c:pt idx="5">
                    <c:v>€147–402</c:v>
                  </c:pt>
                  <c:pt idx="6">
                    <c:v>€402–1.1k</c:v>
                  </c:pt>
                  <c:pt idx="7">
                    <c:v>&gt;€1.1k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13.1</c:v>
                </c:pt>
                <c:pt idx="1">
                  <c:v>13.4</c:v>
                </c:pt>
                <c:pt idx="2">
                  <c:v>20.7</c:v>
                </c:pt>
                <c:pt idx="3">
                  <c:v>20.9</c:v>
                </c:pt>
                <c:pt idx="4">
                  <c:v>17.8</c:v>
                </c:pt>
                <c:pt idx="5">
                  <c:v>9.8</c:v>
                </c:pt>
                <c:pt idx="6">
                  <c:v>3.4</c:v>
                </c:pt>
                <c:pt idx="7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€0–1.7</c:v>
                  </c:pt>
                  <c:pt idx="1">
                    <c:v>€1.7–6</c:v>
                  </c:pt>
                  <c:pt idx="2">
                    <c:v>€6–19</c:v>
                  </c:pt>
                  <c:pt idx="3">
                    <c:v>€19–54</c:v>
                  </c:pt>
                  <c:pt idx="4">
                    <c:v>€54–147</c:v>
                  </c:pt>
                  <c:pt idx="5">
                    <c:v>€147–402</c:v>
                  </c:pt>
                  <c:pt idx="6">
                    <c:v>€402–1.1k</c:v>
                  </c:pt>
                  <c:pt idx="7">
                    <c:v>&gt;€1.1k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39.2</c:v>
                </c:pt>
                <c:pt idx="1">
                  <c:v>5.8</c:v>
                </c:pt>
                <c:pt idx="2">
                  <c:v>8.8</c:v>
                </c:pt>
                <c:pt idx="3">
                  <c:v>7.3</c:v>
                </c:pt>
                <c:pt idx="4">
                  <c:v>19.6</c:v>
                </c:pt>
                <c:pt idx="5">
                  <c:v>11.4</c:v>
                </c:pt>
                <c:pt idx="6">
                  <c:v>6.4</c:v>
                </c:pt>
                <c:pt idx="7">
                  <c:v>1.5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Transaction amount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Share of class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 statistic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9B5C2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V14</c:v>
                  </c:pt>
                  <c:pt idx="1">
                    <c:v>V10</c:v>
                  </c:pt>
                  <c:pt idx="2">
                    <c:v>V12</c:v>
                  </c:pt>
                  <c:pt idx="3">
                    <c:v>V11</c:v>
                  </c:pt>
                  <c:pt idx="4">
                    <c:v>V17</c:v>
                  </c:pt>
                  <c:pt idx="5">
                    <c:v>V4</c:v>
                  </c:pt>
                  <c:pt idx="6">
                    <c:v>V3</c:v>
                  </c:pt>
                  <c:pt idx="7">
                    <c:v>V16</c:v>
                  </c:pt>
                  <c:pt idx="8">
                    <c:v>V7</c:v>
                  </c:pt>
                  <c:pt idx="9">
                    <c:v>V2</c:v>
                  </c:pt>
                  <c:pt idx="10">
                    <c:v>V9</c:v>
                  </c:pt>
                  <c:pt idx="11">
                    <c:v>V18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0.847</c:v>
                </c:pt>
                <c:pt idx="1">
                  <c:v>0.824</c:v>
                </c:pt>
                <c:pt idx="2">
                  <c:v>0.792</c:v>
                </c:pt>
                <c:pt idx="3">
                  <c:v>0.776</c:v>
                </c:pt>
                <c:pt idx="4">
                  <c:v>0.776</c:v>
                </c:pt>
                <c:pt idx="5">
                  <c:v>0.774</c:v>
                </c:pt>
                <c:pt idx="6">
                  <c:v>0.735</c:v>
                </c:pt>
                <c:pt idx="7">
                  <c:v>0.732</c:v>
                </c:pt>
                <c:pt idx="8">
                  <c:v>0.712</c:v>
                </c:pt>
                <c:pt idx="9">
                  <c:v>0.658</c:v>
                </c:pt>
                <c:pt idx="10">
                  <c:v>0.58</c:v>
                </c:pt>
                <c:pt idx="11">
                  <c:v>0.568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A9B5C2"/>
            </a:solidFill>
            <a:effectLst/>
          </c:spPr>
          <c:invertIfNegative val="0"/>
          <c:dLbls>
            <c:numFmt formatCode="[=0]&quot;&quot;;[&lt;1]&quot;&lt;1&quot;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&lt;25</c:v>
                  </c:pt>
                  <c:pt idx="1">
                    <c:v>25–50</c:v>
                  </c:pt>
                  <c:pt idx="2">
                    <c:v>50–75</c:v>
                  </c:pt>
                  <c:pt idx="3">
                    <c:v>75–95</c:v>
                  </c:pt>
                  <c:pt idx="4">
                    <c:v>95–150</c:v>
                  </c:pt>
                  <c:pt idx="5">
                    <c:v>150–300</c:v>
                  </c:pt>
                  <c:pt idx="6">
                    <c:v>300–1k</c:v>
                  </c:pt>
                  <c:pt idx="7">
                    <c:v>&gt;1k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68.7</c:v>
                </c:pt>
                <c:pt idx="1">
                  <c:v>26.4</c:v>
                </c:pt>
                <c:pt idx="2">
                  <c:v>4.3</c:v>
                </c:pt>
                <c:pt idx="3">
                  <c:v>0.3</c:v>
                </c:pt>
                <c:pt idx="4">
                  <c:v>0.2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[=0]&quot;&quot;;[&lt;1]&quot;&lt;1&quot;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&lt;25</c:v>
                  </c:pt>
                  <c:pt idx="1">
                    <c:v>25–50</c:v>
                  </c:pt>
                  <c:pt idx="2">
                    <c:v>50–75</c:v>
                  </c:pt>
                  <c:pt idx="3">
                    <c:v>75–95</c:v>
                  </c:pt>
                  <c:pt idx="4">
                    <c:v>95–150</c:v>
                  </c:pt>
                  <c:pt idx="5">
                    <c:v>150–300</c:v>
                  </c:pt>
                  <c:pt idx="6">
                    <c:v>300–1k</c:v>
                  </c:pt>
                  <c:pt idx="7">
                    <c:v>&gt;1k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12.2</c:v>
                </c:pt>
                <c:pt idx="1">
                  <c:v>6.8</c:v>
                </c:pt>
                <c:pt idx="2">
                  <c:v>4.1</c:v>
                </c:pt>
                <c:pt idx="3">
                  <c:v>1.4</c:v>
                </c:pt>
                <c:pt idx="4">
                  <c:v>0</c:v>
                </c:pt>
                <c:pt idx="5">
                  <c:v>1.4</c:v>
                </c:pt>
                <c:pt idx="6">
                  <c:v>10.8</c:v>
                </c:pt>
                <c:pt idx="7">
                  <c:v>63.5</c:v>
                </c:pt>
              </c:numCache>
            </c:numRef>
          </c:val>
        </c:ser>
        <c:dLbls>
          <c:numFmt formatCode="[=0]&quot;&quot;;[&lt;1]&quot;&lt;1&quot;;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Anomaly score (threshold 94.68)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Share of class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29 features</c:v>
                </c:pt>
              </c:strCache>
            </c:strRef>
          </c:tx>
          <c:spPr>
            <a:solidFill>
              <a:srgbClr val="128D96"/>
            </a:solidFill>
            <a:ln w="38100" cap="flat">
              <a:solidFill>
                <a:srgbClr val="128D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28D96"/>
              </a:solidFill>
              <a:ln w="9525" cap="flat">
                <a:solidFill>
                  <a:srgbClr val="128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0.074</c:v>
                </c:pt>
                <c:pt idx="1">
                  <c:v>0.176</c:v>
                </c:pt>
                <c:pt idx="2">
                  <c:v>0.549</c:v>
                </c:pt>
                <c:pt idx="3">
                  <c:v>0.068</c:v>
                </c:pt>
                <c:pt idx="4">
                  <c:v>0.3</c:v>
                </c:pt>
                <c:pt idx="5">
                  <c:v>0.068</c:v>
                </c:pt>
                <c:pt idx="6">
                  <c:v>0.196</c:v>
                </c:pt>
                <c:pt idx="7">
                  <c:v>0.323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Selected 12 features</c:v>
                </c:pt>
              </c:strCache>
            </c:strRef>
          </c:tx>
          <c:spPr>
            <a:solidFill>
              <a:srgbClr val="A9B5C2"/>
            </a:solidFill>
            <a:ln w="38100" cap="flat">
              <a:solidFill>
                <a:srgbClr val="A9B5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A9B5C2"/>
              </a:solidFill>
              <a:ln w="9525" cap="flat">
                <a:solidFill>
                  <a:srgbClr val="A9B5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0.266</c:v>
                </c:pt>
                <c:pt idx="1">
                  <c:v>0.205</c:v>
                </c:pt>
                <c:pt idx="2">
                  <c:v>0.201</c:v>
                </c:pt>
                <c:pt idx="3">
                  <c:v>0.197</c:v>
                </c:pt>
                <c:pt idx="4">
                  <c:v>0.203</c:v>
                </c:pt>
                <c:pt idx="5">
                  <c:v>0.334</c:v>
                </c:pt>
                <c:pt idx="6">
                  <c:v>0.067</c:v>
                </c:pt>
                <c:pt idx="7">
                  <c:v>0.075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Number of mixture components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Mean validation AP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0</c:v>
                </c:pt>
              </c:strCache>
            </c:strRef>
          </c:tx>
          <c:spPr>
            <a:solidFill>
              <a:srgbClr val="0E223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29 feat., K=3</c:v>
                  </c:pt>
                  <c:pt idx="1">
                    <c:v>29 feat., K=5</c:v>
                  </c:pt>
                  <c:pt idx="2">
                    <c:v>12 feat., K=6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0.638</c:v>
                </c:pt>
                <c:pt idx="1">
                  <c:v>0.058</c:v>
                </c:pt>
                <c:pt idx="2">
                  <c:v>0.081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1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29 feat., K=3</c:v>
                  </c:pt>
                  <c:pt idx="1">
                    <c:v>29 feat., K=5</c:v>
                  </c:pt>
                  <c:pt idx="2">
                    <c:v>12 feat., K=6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0.343</c:v>
                </c:pt>
                <c:pt idx="1">
                  <c:v>0.647</c:v>
                </c:pt>
                <c:pt idx="2">
                  <c:v>0.628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2</c:v>
                </c:pt>
              </c:strCache>
            </c:strRef>
          </c:tx>
          <c:spPr>
            <a:solidFill>
              <a:srgbClr val="A9B5C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29 feat., K=3</c:v>
                  </c:pt>
                  <c:pt idx="1">
                    <c:v>29 feat., K=5</c:v>
                  </c:pt>
                  <c:pt idx="2">
                    <c:v>12 feat., K=6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0.666</c:v>
                </c:pt>
                <c:pt idx="1">
                  <c:v>0.194</c:v>
                </c:pt>
                <c:pt idx="2">
                  <c:v>0.295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Validation AP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223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8D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5C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Top 25</c:v>
                  </c:pt>
                  <c:pt idx="1">
                    <c:v>Top 50</c:v>
                  </c:pt>
                  <c:pt idx="2">
                    <c:v>Top 100</c:v>
                  </c:pt>
                  <c:pt idx="3">
                    <c:v>All 214 alerts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84</c:v>
                </c:pt>
                <c:pt idx="2">
                  <c:v>56</c:v>
                </c:pt>
                <c:pt idx="3">
                  <c:v>26.2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Alerts that are real fraud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Caught</c:v>
                </c:pt>
              </c:strCache>
            </c:strRef>
          </c:tx>
          <c:spPr>
            <a:solidFill>
              <a:srgbClr val="128D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€0–1</c:v>
                  </c:pt>
                  <c:pt idx="1">
                    <c:v>€1–10</c:v>
                  </c:pt>
                  <c:pt idx="2">
                    <c:v>€10–100</c:v>
                  </c:pt>
                  <c:pt idx="3">
                    <c:v>€100–500</c:v>
                  </c:pt>
                  <c:pt idx="4">
                    <c:v>&gt;€500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10</c:v>
                </c:pt>
                <c:pt idx="2">
                  <c:v>11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</c:v>
                </c:pt>
              </c:strCache>
            </c:strRef>
          </c:tx>
          <c:spPr>
            <a:solidFill>
              <a:srgbClr val="EFA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€0–1</c:v>
                  </c:pt>
                  <c:pt idx="1">
                    <c:v>€1–10</c:v>
                  </c:pt>
                  <c:pt idx="2">
                    <c:v>€10–100</c:v>
                  </c:pt>
                  <c:pt idx="3">
                    <c:v>€100–500</c:v>
                  </c:pt>
                  <c:pt idx="4">
                    <c:v>&gt;€500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Test frauds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transactions</c:v>
                </c:pt>
              </c:strCache>
            </c:strRef>
          </c:tx>
          <c:spPr>
            <a:solidFill>
              <a:srgbClr val="A9B5C2"/>
            </a:solidFill>
            <a:effectLst/>
          </c:spPr>
          <c:invertIfNegative val="0"/>
          <c:dLbls>
            <c:numFmt formatCode="[=0]&quot;&quot;;[&lt;1]&quot;&lt;1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&lt;25</c:v>
                  </c:pt>
                  <c:pt idx="1">
                    <c:v>25–50</c:v>
                  </c:pt>
                  <c:pt idx="2">
                    <c:v>50–75</c:v>
                  </c:pt>
                  <c:pt idx="3">
                    <c:v>75–95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68.7</c:v>
                </c:pt>
                <c:pt idx="1">
                  <c:v>26.4</c:v>
                </c:pt>
                <c:pt idx="2">
                  <c:v>4.3</c:v>
                </c:pt>
                <c:pt idx="3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 frauds (18)</c:v>
                </c:pt>
              </c:strCache>
            </c:strRef>
          </c:tx>
          <c:spPr>
            <a:solidFill>
              <a:srgbClr val="EFA243"/>
            </a:solidFill>
            <a:effectLst/>
          </c:spPr>
          <c:invertIfNegative val="0"/>
          <c:dLbls>
            <c:numFmt formatCode="[=0]&quot;&quot;;[&lt;1]&quot;&lt;1&quot;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&lt;25</c:v>
                  </c:pt>
                  <c:pt idx="1">
                    <c:v>25–50</c:v>
                  </c:pt>
                  <c:pt idx="2">
                    <c:v>50–75</c:v>
                  </c:pt>
                  <c:pt idx="3">
                    <c:v>75–95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27.8</c:v>
                </c:pt>
                <c:pt idx="2">
                  <c:v>16.7</c:v>
                </c:pt>
                <c:pt idx="3">
                  <c:v>5.6</c:v>
                </c:pt>
              </c:numCache>
            </c:numRef>
          </c:val>
        </c:ser>
        <c:dLbls>
          <c:numFmt formatCode="[=0]&quot;&quot;;[&lt;1]&quot;&lt;1&quot;;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Anomaly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5B6B7F"/>
                    </a:solidFill>
                    <a:latin typeface="+mn-lt"/>
                  </a:rPr>
                  <a:t>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analyst's problem: tens of thousands of transactions, time for about fifty. The dataset is the public ULB credit card set; we split it by time so we always test on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exploration uses the training period only. An earlier version ranked features on the full dataset, which leaked test labels; we fixed that and the same 12 features were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are used only to choose settings on validation and to evaluate. The GMM itself is fitted on legitimate transactions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methodological lesson: EM converges to different local optima and those optima rank fraud very differently. Likelihood-based criteria do not tell you which one ranks fraud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" y="9646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Fraud Triage  ·  Applied Machine Learning  ·  ULB Credit Card Fraud dataset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743200"/>
          </a:xfrm>
          <a:prstGeom prst="rect">
            <a:avLst/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46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Fraud Triage  ·  Applied Machine Learning  ·  ULB Credit Card Fraud dataset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1280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 ·  PROJECT 26  ·  PHASE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Fraud Triage with Gaussian Mixture Density Scoring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664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suspicious card transactions with a model of normal spending  ·  ULB credit card fraud dataset (Sept 2013)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12848"/>
            <a:ext cx="1664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T047  ·  Naveen Kumar  ·  Aditya Raj  ·  Shagun Vishnoi  ·  Archit Mamodiya  ·  Ritik Ranjan</a:t>
            </a:r>
            <a:endParaRPr lang="en-US" sz="1500" dirty="0"/>
          </a:p>
        </p:txBody>
      </p:sp>
      <p:sp>
        <p:nvSpPr>
          <p:cNvPr id="6" name="Problem panel"/>
          <p:cNvSpPr/>
          <p:nvPr/>
        </p:nvSpPr>
        <p:spPr>
          <a:xfrm>
            <a:off x="822960" y="3154680"/>
            <a:ext cx="5422392" cy="6153912"/>
          </a:xfrm>
          <a:prstGeom prst="roundRect">
            <a:avLst>
              <a:gd name="adj" fmla="val 134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Label 1   The problem"/>
          <p:cNvSpPr txBox="1"/>
          <p:nvPr/>
        </p:nvSpPr>
        <p:spPr>
          <a:xfrm>
            <a:off x="1097280" y="3401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PROBLEM</a:t>
            </a:r>
            <a:endParaRPr lang="en-US" sz="1500" dirty="0"/>
          </a:p>
        </p:txBody>
      </p:sp>
      <p:sp>
        <p:nvSpPr>
          <p:cNvPr id="8" name="Problem statement box"/>
          <p:cNvSpPr/>
          <p:nvPr/>
        </p:nvSpPr>
        <p:spPr>
          <a:xfrm>
            <a:off x="1097280" y="3840480"/>
            <a:ext cx="4873752" cy="1170432"/>
          </a:xfrm>
          <a:prstGeom prst="roundRect">
            <a:avLst>
              <a:gd name="adj" fmla="val 4688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8448" y="3840480"/>
            <a:ext cx="4526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~50 cases an analyst can review at the top of a queue of 56,746 transactions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138928"/>
            <a:ext cx="4873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2:47 AM, a card used daily for groceries buys €1,890 of electronics online</a:t>
            </a:r>
            <a:endParaRPr lang="en-US" sz="1600" dirty="0"/>
          </a:p>
        </p:txBody>
      </p:sp>
      <p:sp>
        <p:nvSpPr>
          <p:cNvPr id="11" name="Queue bar"/>
          <p:cNvSpPr/>
          <p:nvPr/>
        </p:nvSpPr>
        <p:spPr>
          <a:xfrm>
            <a:off x="1097280" y="5779008"/>
            <a:ext cx="3959352" cy="502920"/>
          </a:xfrm>
          <a:prstGeom prst="rect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2" name="Review bar"/>
          <p:cNvSpPr/>
          <p:nvPr/>
        </p:nvSpPr>
        <p:spPr>
          <a:xfrm>
            <a:off x="5056632" y="5779008"/>
            <a:ext cx="914400" cy="502920"/>
          </a:xfrm>
          <a:prstGeom prst="rect">
            <a:avLst/>
          </a:prstGeom>
          <a:solidFill>
            <a:srgbClr val="128D96"/>
          </a:solidFill>
          <a:ln w="12700">
            <a:solidFill>
              <a:srgbClr val="128D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5779008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56,746 in the test period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5779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fraud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635508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767 transactions is fraud</a:t>
            </a:r>
            <a:endParaRPr lang="en-US" sz="1700" dirty="0"/>
          </a:p>
        </p:txBody>
      </p:sp>
      <p:sp>
        <p:nvSpPr>
          <p:cNvPr id="16" name="Bullets"/>
          <p:cNvSpPr txBox="1"/>
          <p:nvPr/>
        </p:nvSpPr>
        <p:spPr>
          <a:xfrm>
            <a:off x="1097280" y="690372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useless: approving everything scores 99.8% and catches nothing.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labels are scarce and arrive late, so we model normal spending and flag what does not fit.</a:t>
            </a:r>
            <a:endParaRPr lang="en-US" sz="1700" dirty="0"/>
          </a:p>
        </p:txBody>
      </p:sp>
      <p:sp>
        <p:nvSpPr>
          <p:cNvPr id="17" name="Dataset panel"/>
          <p:cNvSpPr/>
          <p:nvPr/>
        </p:nvSpPr>
        <p:spPr>
          <a:xfrm>
            <a:off x="6510528" y="3154680"/>
            <a:ext cx="5148072" cy="6153912"/>
          </a:xfrm>
          <a:prstGeom prst="roundRect">
            <a:avLst>
              <a:gd name="adj" fmla="val 142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Label 2   The dataset"/>
          <p:cNvSpPr txBox="1"/>
          <p:nvPr/>
        </p:nvSpPr>
        <p:spPr>
          <a:xfrm>
            <a:off x="6784848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THE DATASET</a:t>
            </a:r>
            <a:endParaRPr lang="en-US" sz="1500" dirty="0"/>
          </a:p>
        </p:txBody>
      </p:sp>
      <p:sp>
        <p:nvSpPr>
          <p:cNvPr id="19" name="Tile transactions"/>
          <p:cNvSpPr/>
          <p:nvPr/>
        </p:nvSpPr>
        <p:spPr>
          <a:xfrm>
            <a:off x="6784848" y="3840480"/>
            <a:ext cx="226771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395020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3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hours, Sept 2013</a:t>
            </a:r>
            <a:endParaRPr lang="en-US" sz="3200" dirty="0"/>
          </a:p>
        </p:txBody>
      </p:sp>
      <p:sp>
        <p:nvSpPr>
          <p:cNvPr id="21" name="Tile frauds"/>
          <p:cNvSpPr/>
          <p:nvPr/>
        </p:nvSpPr>
        <p:spPr>
          <a:xfrm>
            <a:off x="9180576" y="3840480"/>
            <a:ext cx="226771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395020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3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 of all rows</a:t>
            </a:r>
            <a:endParaRPr lang="en-US" sz="3200" dirty="0"/>
          </a:p>
        </p:txBody>
      </p:sp>
      <p:sp>
        <p:nvSpPr>
          <p:cNvPr id="23" name="Tile features"/>
          <p:cNvSpPr/>
          <p:nvPr/>
        </p:nvSpPr>
        <p:spPr>
          <a:xfrm>
            <a:off x="6784848" y="5486400"/>
            <a:ext cx="226771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31152" y="55961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(PCA), Time, Amount</a:t>
            </a:r>
            <a:endParaRPr lang="en-US" sz="3200" dirty="0"/>
          </a:p>
        </p:txBody>
      </p:sp>
      <p:sp>
        <p:nvSpPr>
          <p:cNvPr id="25" name="Tile duplicates"/>
          <p:cNvSpPr/>
          <p:nvPr/>
        </p:nvSpPr>
        <p:spPr>
          <a:xfrm>
            <a:off x="9180576" y="5486400"/>
            <a:ext cx="226771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0" y="55961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</a:t>
            </a:r>
            <a:endParaRPr lang="en-US" sz="3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before splitting</a:t>
            </a:r>
            <a:endParaRPr lang="en-US" sz="3200" dirty="0"/>
          </a:p>
        </p:txBody>
      </p:sp>
      <p:sp>
        <p:nvSpPr>
          <p:cNvPr id="27" name="Bullets"/>
          <p:cNvSpPr txBox="1"/>
          <p:nvPr/>
        </p:nvSpPr>
        <p:spPr>
          <a:xfrm>
            <a:off x="6784848" y="7223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card transaction; V1–V28 are anonymised.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time: first 60% train (legitimate only), next 20% validation, last 20% test.</a:t>
            </a:r>
            <a:endParaRPr lang="en-US" sz="1700" dirty="0"/>
          </a:p>
        </p:txBody>
      </p:sp>
      <p:sp>
        <p:nvSpPr>
          <p:cNvPr id="28" name="Fig 1 card"/>
          <p:cNvSpPr/>
          <p:nvPr/>
        </p:nvSpPr>
        <p:spPr>
          <a:xfrm>
            <a:off x="11932920" y="3154680"/>
            <a:ext cx="5532120" cy="6153912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29" name="Fig 1 chart" descr="Fraud rate by hour of day; 1.45% at 2 AM and 1.04% at 4 AM, about 0.1–0.2% in daytime"/>
          <p:cNvGraphicFramePr/>
          <p:nvPr/>
        </p:nvGraphicFramePr>
        <p:xfrm>
          <a:off x="12070080" y="329184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12207240" y="6949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1.45% of 2 AM transactions are fraud, about 10× the daytime rate: the 2:47 AM scenario is the typical case, not the exception.</a:t>
            </a:r>
            <a:endParaRPr lang="en-US" sz="1700" dirty="0"/>
          </a:p>
        </p:txBody>
      </p:sp>
      <p:sp>
        <p:nvSpPr>
          <p:cNvPr id="31" name="Fig 1 caption"/>
          <p:cNvSpPr txBox="1"/>
          <p:nvPr/>
        </p:nvSpPr>
        <p:spPr>
          <a:xfrm>
            <a:off x="12207240" y="8503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hour, training period (hour assumes recording starts at midnight).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Exploration: fraud is small, nocturnal and visible in a few components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period only (first 60% of time: 170,235 transactions, 342 frauds), so no validation or test labels are used.</a:t>
            </a:r>
            <a:endParaRPr lang="en-US" sz="1800" dirty="0"/>
          </a:p>
        </p:txBody>
      </p:sp>
      <p:sp>
        <p:nvSpPr>
          <p:cNvPr id="4" name="Fig 2 card"/>
          <p:cNvSpPr/>
          <p:nvPr/>
        </p:nvSpPr>
        <p:spPr>
          <a:xfrm>
            <a:off x="822960" y="2057400"/>
            <a:ext cx="6446520" cy="61722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5" name="Fig 2 chart" descr="39% of frauds are under 1.70 euro versus 13% of normal transactions"/>
          <p:cNvGraphicFramePr/>
          <p:nvPr/>
        </p:nvGraphicFramePr>
        <p:xfrm>
          <a:off x="960120" y="2194560"/>
          <a:ext cx="61722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ig 2 caption"/>
          <p:cNvSpPr txBox="1"/>
          <p:nvPr/>
        </p:nvSpPr>
        <p:spPr>
          <a:xfrm>
            <a:off x="1097280" y="76352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distribution by class: 39% of frauds are under €1.70 (normal: 13%).</a:t>
            </a:r>
            <a:endParaRPr lang="en-US" sz="1400" dirty="0"/>
          </a:p>
        </p:txBody>
      </p:sp>
      <p:sp>
        <p:nvSpPr>
          <p:cNvPr id="7" name="Fig 3 card"/>
          <p:cNvSpPr/>
          <p:nvPr/>
        </p:nvSpPr>
        <p:spPr>
          <a:xfrm>
            <a:off x="7543800" y="2057400"/>
            <a:ext cx="5349240" cy="617220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8" name="Fig 3 chart" descr="KS separation by feature, V14 highest at 0.85; top 11 selected"/>
          <p:cNvGraphicFramePr/>
          <p:nvPr/>
        </p:nvGraphicFramePr>
        <p:xfrm>
          <a:off x="7680960" y="2194560"/>
          <a:ext cx="507492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Fig 3 caption"/>
          <p:cNvSpPr txBox="1"/>
          <p:nvPr/>
        </p:nvSpPr>
        <p:spPr>
          <a:xfrm>
            <a:off x="7680960" y="7635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features by KS separation; the 11 in teal form the 12-feature set with Amount.</a:t>
            </a:r>
            <a:endParaRPr lang="en-US" sz="1400" dirty="0"/>
          </a:p>
        </p:txBody>
      </p:sp>
      <p:sp>
        <p:nvSpPr>
          <p:cNvPr id="10" name="Insight panel"/>
          <p:cNvSpPr/>
          <p:nvPr/>
        </p:nvSpPr>
        <p:spPr>
          <a:xfrm>
            <a:off x="13167360" y="2057400"/>
            <a:ext cx="4297680" cy="6172200"/>
          </a:xfrm>
          <a:prstGeom prst="roundRect">
            <a:avLst>
              <a:gd name="adj" fmla="val 17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Label What the data shows"/>
          <p:cNvSpPr txBox="1"/>
          <p:nvPr/>
        </p:nvSpPr>
        <p:spPr>
          <a:xfrm>
            <a:off x="134416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500" dirty="0"/>
          </a:p>
        </p:txBody>
      </p:sp>
      <p:sp>
        <p:nvSpPr>
          <p:cNvPr id="12" name="Bullets"/>
          <p:cNvSpPr txBox="1"/>
          <p:nvPr/>
        </p:nvSpPr>
        <p:spPr>
          <a:xfrm>
            <a:off x="13441680" y="2743200"/>
            <a:ext cx="37947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amounts are a fraud signal: 39% of frauds are under €1.70, a card-testing pattern.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is extremely skewed (15.8); log(1 + Amount) brings it to 0.16.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V14, V10 and V12 separate fraud best (KS 0.79–0.85).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tests reject a single bell curve for every feature (p &lt; 1e-300).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 rows removed before any split.</a:t>
            </a:r>
            <a:endParaRPr lang="en-US" sz="1700" dirty="0"/>
          </a:p>
        </p:txBody>
      </p:sp>
      <p:sp>
        <p:nvSpPr>
          <p:cNvPr id="13" name="Takeaway bar"/>
          <p:cNvSpPr/>
          <p:nvPr/>
        </p:nvSpPr>
        <p:spPr>
          <a:xfrm>
            <a:off x="822960" y="8430768"/>
            <a:ext cx="16642080" cy="960120"/>
          </a:xfrm>
          <a:prstGeom prst="roundRect">
            <a:avLst>
              <a:gd name="adj" fmla="val 5714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14" name="Takeaway text"/>
          <p:cNvSpPr txBox="1"/>
          <p:nvPr/>
        </p:nvSpPr>
        <p:spPr>
          <a:xfrm>
            <a:off x="1188720" y="8430768"/>
            <a:ext cx="1591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differs from normal spending in a few dimensions, and normal spending is not one bell curve: model it as a mixture.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learn normal spending, flag what does not fit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Mixture Model is trained on legitimate transactions only; its negative log-likelihood is the anomaly score.</a:t>
            </a:r>
            <a:endParaRPr lang="en-US" sz="1800" dirty="0"/>
          </a:p>
        </p:txBody>
      </p:sp>
      <p:sp>
        <p:nvSpPr>
          <p:cNvPr id="4" name="Label Why a density model, not a classifier"/>
          <p:cNvSpPr txBox="1"/>
          <p:nvPr/>
        </p:nvSpPr>
        <p:spPr>
          <a:xfrm>
            <a:off x="822960" y="2103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DENSITY MODEL, NOT A CLASSIFIER</a:t>
            </a:r>
            <a:endParaRPr lang="en-US" sz="15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4600"/>
          <a:ext cx="6446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331720"/>
                <a:gridCol w="2514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classifier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of normal (ours)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fraud (342 cases)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169,893 legitimate rows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Needed; arrive weeks late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 to fit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attack types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if unseen in training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look unusual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/ not fraud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ranking score for the queue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ormula box"/>
          <p:cNvSpPr/>
          <p:nvPr/>
        </p:nvSpPr>
        <p:spPr>
          <a:xfrm>
            <a:off x="822960" y="5623560"/>
            <a:ext cx="6446520" cy="1005840"/>
          </a:xfrm>
          <a:prstGeom prst="roundRect">
            <a:avLst>
              <a:gd name="adj" fmla="val 5455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56235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score(x) = − log p(x)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Σ πₖ · N(x | μₖ, Σₖ), a mixture of K Gaussians fitted to normal spending</a:t>
            </a:r>
            <a:endParaRPr lang="en-US" sz="2400" dirty="0"/>
          </a:p>
        </p:txBody>
      </p:sp>
      <p:sp>
        <p:nvSpPr>
          <p:cNvPr id="8" name="Bullets"/>
          <p:cNvSpPr txBox="1"/>
          <p:nvPr/>
        </p:nvSpPr>
        <p:spPr>
          <a:xfrm>
            <a:off x="822960" y="681228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= unlike any normal spending profile.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 94.68, fixed on validation for ≤ 0.5% false alarms.</a:t>
            </a:r>
            <a:endParaRPr lang="en-US" sz="1700" dirty="0"/>
          </a:p>
        </p:txBody>
      </p:sp>
      <p:sp>
        <p:nvSpPr>
          <p:cNvPr id="9" name="Fig 4 card"/>
          <p:cNvSpPr/>
          <p:nvPr/>
        </p:nvSpPr>
        <p:spPr>
          <a:xfrm>
            <a:off x="7543800" y="2057400"/>
            <a:ext cx="5349240" cy="617220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10" name="Fig 4 chart" descr="63.5% of test frauds score above 1000 versus almost no normal transactions"/>
          <p:cNvGraphicFramePr/>
          <p:nvPr/>
        </p:nvGraphicFramePr>
        <p:xfrm>
          <a:off x="7680960" y="2194560"/>
          <a:ext cx="507492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Fig 4 caption"/>
          <p:cNvSpPr txBox="1"/>
          <p:nvPr/>
        </p:nvSpPr>
        <p:spPr>
          <a:xfrm>
            <a:off x="7680960" y="7635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anomaly scores by class: 63.5% of frauds score above 1,000.</a:t>
            </a:r>
            <a:endParaRPr lang="en-US" sz="1400" dirty="0"/>
          </a:p>
        </p:txBody>
      </p:sp>
      <p:sp>
        <p:nvSpPr>
          <p:cNvPr id="12" name="Insight panel"/>
          <p:cNvSpPr/>
          <p:nvPr/>
        </p:nvSpPr>
        <p:spPr>
          <a:xfrm>
            <a:off x="13167360" y="2057400"/>
            <a:ext cx="4297680" cy="6172200"/>
          </a:xfrm>
          <a:prstGeom prst="roundRect">
            <a:avLst>
              <a:gd name="adj" fmla="val 17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Label What the score does"/>
          <p:cNvSpPr txBox="1"/>
          <p:nvPr/>
        </p:nvSpPr>
        <p:spPr>
          <a:xfrm>
            <a:off x="134416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SCORE DOES</a:t>
            </a:r>
            <a:endParaRPr lang="en-US" sz="1500" dirty="0"/>
          </a:p>
        </p:txBody>
      </p:sp>
      <p:sp>
        <p:nvSpPr>
          <p:cNvPr id="14" name="Bullets"/>
          <p:cNvSpPr txBox="1"/>
          <p:nvPr/>
        </p:nvSpPr>
        <p:spPr>
          <a:xfrm>
            <a:off x="13441680" y="2743200"/>
            <a:ext cx="37947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of normal transactions score below 75.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 split in two: most score far above 1,000; 18 of 74 score like normal spending.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score ranks well at the top, but some fraud is invisible to a density model.</a:t>
            </a:r>
            <a:endParaRPr lang="en-US" sz="1700" dirty="0"/>
          </a:p>
        </p:txBody>
      </p:sp>
      <p:sp>
        <p:nvSpPr>
          <p:cNvPr id="15" name="Takeaway bar"/>
          <p:cNvSpPr/>
          <p:nvPr/>
        </p:nvSpPr>
        <p:spPr>
          <a:xfrm>
            <a:off x="822960" y="8430768"/>
            <a:ext cx="16642080" cy="960120"/>
          </a:xfrm>
          <a:prstGeom prst="roundRect">
            <a:avLst>
              <a:gd name="adj" fmla="val 5714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16" name="Takeaway text"/>
          <p:cNvSpPr txBox="1"/>
          <p:nvPr/>
        </p:nvSpPr>
        <p:spPr>
          <a:xfrm>
            <a:off x="1188720" y="8430768"/>
            <a:ext cx="1591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a fraud label during fitting, yet three in four test frauds land far outside normal spending.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designed the way a bank would deploy 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made on past data; the test period is scored exactly once.</a:t>
            </a:r>
            <a:endParaRPr lang="en-US" sz="1800" dirty="0"/>
          </a:p>
        </p:txBody>
      </p:sp>
      <p:sp>
        <p:nvSpPr>
          <p:cNvPr id="4" name="Step 1"/>
          <p:cNvSpPr/>
          <p:nvPr/>
        </p:nvSpPr>
        <p:spPr>
          <a:xfrm>
            <a:off x="822960" y="2057400"/>
            <a:ext cx="3002280" cy="100584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tep text 1"/>
          <p:cNvSpPr txBox="1"/>
          <p:nvPr/>
        </p:nvSpPr>
        <p:spPr>
          <a:xfrm>
            <a:off x="150876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Clean &amp; dedupe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3550920" y="2057400"/>
            <a:ext cx="3002280" cy="100584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tep text 2"/>
          <p:cNvSpPr txBox="1"/>
          <p:nvPr/>
        </p:nvSpPr>
        <p:spPr>
          <a:xfrm>
            <a:off x="423672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Split by time</a:t>
            </a:r>
            <a:endParaRPr lang="en-US" sz="1600" dirty="0"/>
          </a:p>
        </p:txBody>
      </p:sp>
      <p:sp>
        <p:nvSpPr>
          <p:cNvPr id="8" name="Step 3"/>
          <p:cNvSpPr/>
          <p:nvPr/>
        </p:nvSpPr>
        <p:spPr>
          <a:xfrm>
            <a:off x="6278880" y="2057400"/>
            <a:ext cx="3002280" cy="100584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tep text 3"/>
          <p:cNvSpPr txBox="1"/>
          <p:nvPr/>
        </p:nvSpPr>
        <p:spPr>
          <a:xfrm>
            <a:off x="696468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Explore (train)</a:t>
            </a:r>
            <a:endParaRPr lang="en-US" sz="1600" dirty="0"/>
          </a:p>
        </p:txBody>
      </p:sp>
      <p:sp>
        <p:nvSpPr>
          <p:cNvPr id="10" name="Step 4"/>
          <p:cNvSpPr/>
          <p:nvPr/>
        </p:nvSpPr>
        <p:spPr>
          <a:xfrm>
            <a:off x="9006840" y="2057400"/>
            <a:ext cx="3002280" cy="100584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tep text 4"/>
          <p:cNvSpPr txBox="1"/>
          <p:nvPr/>
        </p:nvSpPr>
        <p:spPr>
          <a:xfrm>
            <a:off x="969264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GMM grid search</a:t>
            </a:r>
            <a:endParaRPr lang="en-US" sz="1600" dirty="0"/>
          </a:p>
        </p:txBody>
      </p:sp>
      <p:sp>
        <p:nvSpPr>
          <p:cNvPr id="12" name="Step 5"/>
          <p:cNvSpPr/>
          <p:nvPr/>
        </p:nvSpPr>
        <p:spPr>
          <a:xfrm>
            <a:off x="11734800" y="2057400"/>
            <a:ext cx="3002280" cy="100584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tep text 5"/>
          <p:cNvSpPr txBox="1"/>
          <p:nvPr/>
        </p:nvSpPr>
        <p:spPr>
          <a:xfrm>
            <a:off x="1242060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Set threshold</a:t>
            </a:r>
            <a:endParaRPr lang="en-US" sz="1600" dirty="0"/>
          </a:p>
        </p:txBody>
      </p:sp>
      <p:sp>
        <p:nvSpPr>
          <p:cNvPr id="14" name="Step 6"/>
          <p:cNvSpPr/>
          <p:nvPr/>
        </p:nvSpPr>
        <p:spPr>
          <a:xfrm>
            <a:off x="14462760" y="2057400"/>
            <a:ext cx="3002280" cy="1005840"/>
          </a:xfrm>
          <a:prstGeom prst="chevron">
            <a:avLst/>
          </a:prstGeom>
          <a:solidFill>
            <a:srgbClr val="128D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tep text 6"/>
          <p:cNvSpPr txBox="1"/>
          <p:nvPr/>
        </p:nvSpPr>
        <p:spPr>
          <a:xfrm>
            <a:off x="15148560" y="2057400"/>
            <a:ext cx="204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Test once</a:t>
            </a:r>
            <a:endParaRPr lang="en-US" sz="1600" dirty="0"/>
          </a:p>
        </p:txBody>
      </p:sp>
      <p:sp>
        <p:nvSpPr>
          <p:cNvPr id="16" name="Label Real-world constraint → our design choice"/>
          <p:cNvSpPr txBox="1"/>
          <p:nvPr/>
        </p:nvSpPr>
        <p:spPr>
          <a:xfrm>
            <a:off x="822960" y="3474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CONSTRAINT → OUR DESIGN CHOICE</a:t>
            </a:r>
            <a:endParaRPr lang="en-US" sz="1500" dirty="0"/>
          </a:p>
        </p:txBody>
      </p:sp>
      <p:graphicFrame>
        <p:nvGraphicFramePr>
          <p:cNvPr id="5" name="Desig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886200"/>
          <a:ext cx="106070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126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run on tomorrow's transactions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60 / 20 / 20 split, never random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must not learn fraud as normal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342 training-period frauds removed before fitting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can tune on the future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K, seed and threshold chosen on validation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 have fixed budgets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recall at ≤ 0.5% false alarms and precision in top 25 / 50 / 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Validation panel"/>
          <p:cNvSpPr/>
          <p:nvPr/>
        </p:nvSpPr>
        <p:spPr>
          <a:xfrm>
            <a:off x="11841480" y="34747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Label Split design"/>
          <p:cNvSpPr txBox="1"/>
          <p:nvPr/>
        </p:nvSpPr>
        <p:spPr>
          <a:xfrm>
            <a:off x="1211580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DESIGN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115800" y="4069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169,893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legit only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13944600" y="4069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56,745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57 fraud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15773400" y="40690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FA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56,746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74 fraud</a:t>
            </a:r>
            <a:endParaRPr lang="en-US" sz="3000" dirty="0"/>
          </a:p>
        </p:txBody>
      </p:sp>
      <p:sp>
        <p:nvSpPr>
          <p:cNvPr id="23" name="Train share"/>
          <p:cNvSpPr/>
          <p:nvPr/>
        </p:nvSpPr>
        <p:spPr>
          <a:xfrm>
            <a:off x="12115800" y="5166360"/>
            <a:ext cx="3044952" cy="384048"/>
          </a:xfrm>
          <a:prstGeom prst="rect">
            <a:avLst/>
          </a:prstGeom>
          <a:solidFill>
            <a:srgbClr val="128D96"/>
          </a:solidFill>
          <a:ln w="12700">
            <a:solidFill>
              <a:srgbClr val="128D96"/>
            </a:solidFill>
            <a:prstDash val="solid"/>
          </a:ln>
        </p:spPr>
      </p:sp>
      <p:sp>
        <p:nvSpPr>
          <p:cNvPr id="24" name="Val share"/>
          <p:cNvSpPr/>
          <p:nvPr/>
        </p:nvSpPr>
        <p:spPr>
          <a:xfrm>
            <a:off x="15160752" y="5166360"/>
            <a:ext cx="1014984" cy="384048"/>
          </a:xfrm>
          <a:prstGeom prst="rect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25" name="Test share"/>
          <p:cNvSpPr/>
          <p:nvPr/>
        </p:nvSpPr>
        <p:spPr>
          <a:xfrm>
            <a:off x="16175736" y="5166360"/>
            <a:ext cx="1014984" cy="384048"/>
          </a:xfrm>
          <a:prstGeom prst="rect">
            <a:avLst/>
          </a:prstGeom>
          <a:solidFill>
            <a:srgbClr val="EFA243"/>
          </a:solidFill>
          <a:ln w="12700">
            <a:solidFill>
              <a:srgbClr val="EFA2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115800" y="5760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area under the precision–recall curve (main metric)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0.5% FPR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fraud caught within the false-alarm budget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k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share of the top k alerts that are fraud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115800" y="7543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Random-guess AP equals the fraud rate: 0.001 on validation, 0.0013 on test.</a:t>
            </a:r>
            <a:endParaRPr lang="en-US" sz="1400" dirty="0"/>
          </a:p>
        </p:txBody>
      </p:sp>
      <p:sp>
        <p:nvSpPr>
          <p:cNvPr id="28" name="Takeaway bar"/>
          <p:cNvSpPr/>
          <p:nvPr/>
        </p:nvSpPr>
        <p:spPr>
          <a:xfrm>
            <a:off x="822960" y="8430768"/>
            <a:ext cx="16642080" cy="960120"/>
          </a:xfrm>
          <a:prstGeom prst="roundRect">
            <a:avLst>
              <a:gd name="adj" fmla="val 5714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29" name="Takeaway text"/>
          <p:cNvSpPr txBox="1"/>
          <p:nvPr/>
        </p:nvSpPr>
        <p:spPr>
          <a:xfrm>
            <a:off x="1188720" y="8430768"/>
            <a:ext cx="1591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by time and fitting on legitimate rows only means every result is an honest forecast of the next period.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selection: one random seed can halve the result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 for K = 1–8 components on two feature sets, 3 seeds × 5 EM restarts each (144 fits); random-guess AP = 0.001.</a:t>
            </a:r>
            <a:endParaRPr lang="en-US" sz="1800" dirty="0"/>
          </a:p>
        </p:txBody>
      </p:sp>
      <p:sp>
        <p:nvSpPr>
          <p:cNvPr id="4" name="Fig 5 card"/>
          <p:cNvSpPr/>
          <p:nvPr/>
        </p:nvSpPr>
        <p:spPr>
          <a:xfrm>
            <a:off x="822960" y="2057400"/>
            <a:ext cx="6446520" cy="61722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5" name="Fig 5 chart" descr="Mean validation AP by K; all 29 features peak at K=3 with 0.55"/>
          <p:cNvGraphicFramePr/>
          <p:nvPr/>
        </p:nvGraphicFramePr>
        <p:xfrm>
          <a:off x="960120" y="2194560"/>
          <a:ext cx="61722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ig 5 caption"/>
          <p:cNvSpPr txBox="1"/>
          <p:nvPr/>
        </p:nvSpPr>
        <p:spPr>
          <a:xfrm>
            <a:off x="1097280" y="76352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validation AP over 3 seeds; all 29 features peak at K = 3 (0.55).</a:t>
            </a:r>
            <a:endParaRPr lang="en-US" sz="1400" dirty="0"/>
          </a:p>
        </p:txBody>
      </p:sp>
      <p:sp>
        <p:nvSpPr>
          <p:cNvPr id="7" name="Fig 6 card"/>
          <p:cNvSpPr/>
          <p:nvPr/>
        </p:nvSpPr>
        <p:spPr>
          <a:xfrm>
            <a:off x="7543800" y="2057400"/>
            <a:ext cx="5349240" cy="617220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8" name="Fig 6 chart" descr="Same settings give very different AP by seed, for example 0.64, 0.34, 0.67"/>
          <p:cNvGraphicFramePr/>
          <p:nvPr/>
        </p:nvGraphicFramePr>
        <p:xfrm>
          <a:off x="7680960" y="2194560"/>
          <a:ext cx="507492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Fig 6 caption"/>
          <p:cNvSpPr txBox="1"/>
          <p:nvPr/>
        </p:nvSpPr>
        <p:spPr>
          <a:xfrm>
            <a:off x="7680960" y="7635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setting, three seeds: AP swings by up to 0.59.</a:t>
            </a:r>
            <a:endParaRPr lang="en-US" sz="1400" dirty="0"/>
          </a:p>
        </p:txBody>
      </p:sp>
      <p:sp>
        <p:nvSpPr>
          <p:cNvPr id="10" name="Problems panel"/>
          <p:cNvSpPr/>
          <p:nvPr/>
        </p:nvSpPr>
        <p:spPr>
          <a:xfrm>
            <a:off x="13167360" y="2057400"/>
            <a:ext cx="4297680" cy="6172200"/>
          </a:xfrm>
          <a:prstGeom prst="roundRect">
            <a:avLst>
              <a:gd name="adj" fmla="val 17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Label Problems we hit → fix"/>
          <p:cNvSpPr txBox="1"/>
          <p:nvPr/>
        </p:nvSpPr>
        <p:spPr>
          <a:xfrm>
            <a:off x="134416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HIT → FIX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441680" y="2743200"/>
            <a:ext cx="379476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first run.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K=3 result (0.445) came from one seed; with restarts it fell to about 0.20.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misled us.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kept falling to K = 8 and went negative: components collapsed onto near-identical points.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seed picker.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highest likelihood picked a collapsed fit (test AP 0.38).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× 5 restarts per setting; choose setting and seed by validation AP; report the spread.</a:t>
            </a:r>
            <a:endParaRPr lang="en-US" sz="1600" dirty="0"/>
          </a:p>
        </p:txBody>
      </p:sp>
      <p:sp>
        <p:nvSpPr>
          <p:cNvPr id="13" name="Takeaway bar"/>
          <p:cNvSpPr/>
          <p:nvPr/>
        </p:nvSpPr>
        <p:spPr>
          <a:xfrm>
            <a:off x="822960" y="8430768"/>
            <a:ext cx="16642080" cy="960120"/>
          </a:xfrm>
          <a:prstGeom prst="roundRect">
            <a:avLst>
              <a:gd name="adj" fmla="val 5714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14" name="Takeaway text"/>
          <p:cNvSpPr txBox="1"/>
          <p:nvPr/>
        </p:nvSpPr>
        <p:spPr>
          <a:xfrm>
            <a:off x="1188720" y="8430768"/>
            <a:ext cx="1591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all 29 features, K = 3, seed 2, validation AP 0.666, chosen on validation only, with the seed spread reported.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84% of the top 50 alerts are real fraud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period (last 20% of time): 56,746 transactions, 74 frauds; threshold fixed on validation; scored once.</a:t>
            </a:r>
            <a:endParaRPr lang="en-US" sz="1800" dirty="0"/>
          </a:p>
        </p:txBody>
      </p:sp>
      <p:sp>
        <p:nvSpPr>
          <p:cNvPr id="4" name="Fig 7 card"/>
          <p:cNvSpPr/>
          <p:nvPr/>
        </p:nvSpPr>
        <p:spPr>
          <a:xfrm>
            <a:off x="822960" y="2057400"/>
            <a:ext cx="9601200" cy="61722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5" name="Fig 7 chart" descr="Precision 72% top 25, 84% top 50, 56% top 100, 26% of all 214 alerts; random is 0.13%"/>
          <p:cNvGraphicFramePr/>
          <p:nvPr/>
        </p:nvGraphicFramePr>
        <p:xfrm>
          <a:off x="960120" y="2194560"/>
          <a:ext cx="932688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ig 7 caption"/>
          <p:cNvSpPr txBox="1"/>
          <p:nvPr/>
        </p:nvSpPr>
        <p:spPr>
          <a:xfrm>
            <a:off x="1097280" y="7635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analyst's queue on the test set; a random queue would be 0.13% fraud.</a:t>
            </a:r>
            <a:endParaRPr lang="en-US" sz="1400" dirty="0"/>
          </a:p>
        </p:txBody>
      </p:sp>
      <p:sp>
        <p:nvSpPr>
          <p:cNvPr id="7" name="Label Scorecard (test set)"/>
          <p:cNvSpPr txBox="1"/>
          <p:nvPr/>
        </p:nvSpPr>
        <p:spPr>
          <a:xfrm>
            <a:off x="108356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(TEST SET)</a:t>
            </a:r>
            <a:endParaRPr lang="en-US" sz="1500" dirty="0"/>
          </a:p>
        </p:txBody>
      </p:sp>
      <p:graphicFrame>
        <p:nvGraphicFramePr>
          <p:cNvPr id="7" name="Scoreca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835640" y="2514600"/>
          <a:ext cx="662940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137160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 – 0.74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E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– 0.96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at ≤ 0.5% false alarms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– 85%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 false-alarm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top 50 alerts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– 94%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Interpretation panel"/>
          <p:cNvSpPr/>
          <p:nvPr/>
        </p:nvSpPr>
        <p:spPr>
          <a:xfrm>
            <a:off x="10835640" y="5897880"/>
            <a:ext cx="6629400" cy="2331720"/>
          </a:xfrm>
          <a:prstGeom prst="roundRect">
            <a:avLst>
              <a:gd name="adj" fmla="val 313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Label Interpretation"/>
          <p:cNvSpPr txBox="1"/>
          <p:nvPr/>
        </p:nvSpPr>
        <p:spPr>
          <a:xfrm>
            <a:off x="11109960" y="6080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11109960" y="6446520"/>
            <a:ext cx="6172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0.61 is about 470× the random baseline of 0.0013.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of 74 frauds caught with 158 false alarms: 1 real fraud in every 4 alerts.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74 test frauds, so intervals are wide (AP ±0.13).</a:t>
            </a:r>
            <a:endParaRPr lang="en-US" sz="1600" dirty="0"/>
          </a:p>
        </p:txBody>
      </p:sp>
      <p:sp>
        <p:nvSpPr>
          <p:cNvPr id="12" name="Takeaway bar"/>
          <p:cNvSpPr/>
          <p:nvPr/>
        </p:nvSpPr>
        <p:spPr>
          <a:xfrm>
            <a:off x="822960" y="8430768"/>
            <a:ext cx="16642080" cy="960120"/>
          </a:xfrm>
          <a:prstGeom prst="roundRect">
            <a:avLst>
              <a:gd name="adj" fmla="val 5714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</p:spPr>
      </p:sp>
      <p:sp>
        <p:nvSpPr>
          <p:cNvPr id="13" name="Takeaway text"/>
          <p:cNvSpPr txBox="1"/>
          <p:nvPr/>
        </p:nvSpPr>
        <p:spPr>
          <a:xfrm>
            <a:off x="1188720" y="8430768"/>
            <a:ext cx="1591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2:47 AM: the analyst works the top 50 alerts and confirms 42 frauds, instead of searching 56,746 transactions blind.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analysis, conclusions and 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frauds does the model miss? The 74 test frauds at the fixed threshold (score ≥ 94.68).</a:t>
            </a:r>
            <a:endParaRPr lang="en-US" sz="1800" dirty="0"/>
          </a:p>
        </p:txBody>
      </p:sp>
      <p:sp>
        <p:nvSpPr>
          <p:cNvPr id="4" name="Fig 8 card"/>
          <p:cNvSpPr/>
          <p:nvPr/>
        </p:nvSpPr>
        <p:spPr>
          <a:xfrm>
            <a:off x="822960" y="2057400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5" name="Fig 8 chart" descr="Caught versus missed test frauds by amount band; weakest for 1 to 10 euro"/>
          <p:cNvGraphicFramePr/>
          <p:nvPr/>
        </p:nvGraphicFramePr>
        <p:xfrm>
          <a:off x="960120" y="2148840"/>
          <a:ext cx="6172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ig 8 caption"/>
          <p:cNvSpPr txBox="1"/>
          <p:nvPr/>
        </p:nvSpPr>
        <p:spPr>
          <a:xfrm>
            <a:off x="1097280" y="60350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frauds by amount: recall is lowest for €1–10 (10 of 16).</a:t>
            </a:r>
            <a:endParaRPr lang="en-US" sz="1400" dirty="0"/>
          </a:p>
        </p:txBody>
      </p:sp>
      <p:sp>
        <p:nvSpPr>
          <p:cNvPr id="7" name="Fig 9 card"/>
          <p:cNvSpPr/>
          <p:nvPr/>
        </p:nvSpPr>
        <p:spPr>
          <a:xfrm>
            <a:off x="7543800" y="20574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9C4D0"/>
            </a:solidFill>
            <a:prstDash val="solid"/>
          </a:ln>
        </p:spPr>
      </p:sp>
      <p:graphicFrame>
        <p:nvGraphicFramePr>
          <p:cNvPr id="8" name="Fig 9 chart" descr="Missed frauds have score distributions similar to normal transactions"/>
          <p:cNvGraphicFramePr/>
          <p:nvPr/>
        </p:nvGraphicFramePr>
        <p:xfrm>
          <a:off x="7680960" y="2148840"/>
          <a:ext cx="5074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Fig 9 caption"/>
          <p:cNvSpPr txBox="1"/>
          <p:nvPr/>
        </p:nvSpPr>
        <p:spPr>
          <a:xfrm>
            <a:off x="7680960" y="6035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 </a:t>
            </a:r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frauds score like normal spending.</a:t>
            </a:r>
            <a:endParaRPr lang="en-US" sz="1400" dirty="0"/>
          </a:p>
        </p:txBody>
      </p:sp>
      <p:sp>
        <p:nvSpPr>
          <p:cNvPr id="10" name="Conclusions panel"/>
          <p:cNvSpPr/>
          <p:nvPr/>
        </p:nvSpPr>
        <p:spPr>
          <a:xfrm>
            <a:off x="13167360" y="2057400"/>
            <a:ext cx="4297680" cy="4526280"/>
          </a:xfrm>
          <a:prstGeom prst="roundRect">
            <a:avLst>
              <a:gd name="adj" fmla="val 17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Label Conclusions"/>
          <p:cNvSpPr txBox="1"/>
          <p:nvPr/>
        </p:nvSpPr>
        <p:spPr>
          <a:xfrm>
            <a:off x="134416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12" name="Bullets"/>
          <p:cNvSpPr txBox="1"/>
          <p:nvPr/>
        </p:nvSpPr>
        <p:spPr>
          <a:xfrm>
            <a:off x="13441680" y="2697480"/>
            <a:ext cx="3794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frauds look normal: median score 28 vs 13 for normal and 8,294 for caught frauds.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card-testing amounts (€0–1) are caught well: 24 of 28.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EM initialisation, so the seed spread must be reported.</a:t>
            </a:r>
            <a:endParaRPr lang="en-US" sz="1600" dirty="0"/>
          </a:p>
        </p:txBody>
      </p:sp>
      <p:sp>
        <p:nvSpPr>
          <p:cNvPr id="13" name="Label Next steps"/>
          <p:cNvSpPr txBox="1"/>
          <p:nvPr/>
        </p:nvSpPr>
        <p:spPr>
          <a:xfrm>
            <a:off x="822960" y="6784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4" name="Next step 1"/>
          <p:cNvSpPr/>
          <p:nvPr/>
        </p:nvSpPr>
        <p:spPr>
          <a:xfrm>
            <a:off x="822960" y="71780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tep badge 1"/>
          <p:cNvSpPr/>
          <p:nvPr/>
        </p:nvSpPr>
        <p:spPr>
          <a:xfrm>
            <a:off x="1051560" y="7434072"/>
            <a:ext cx="457200" cy="457200"/>
          </a:xfrm>
          <a:prstGeom prst="ellipse">
            <a:avLst/>
          </a:prstGeom>
          <a:solidFill>
            <a:srgbClr val="128D96"/>
          </a:solidFill>
          <a:ln w="12700">
            <a:solidFill>
              <a:srgbClr val="128D9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51560" y="7434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691640" y="71780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an autoencoder on the same splits, threshold rule and budgets.</a:t>
            </a:r>
            <a:endParaRPr lang="en-US" sz="1600" dirty="0"/>
          </a:p>
        </p:txBody>
      </p:sp>
      <p:sp>
        <p:nvSpPr>
          <p:cNvPr id="18" name="Next step 2"/>
          <p:cNvSpPr/>
          <p:nvPr/>
        </p:nvSpPr>
        <p:spPr>
          <a:xfrm>
            <a:off x="6446520" y="71780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tep badge 2"/>
          <p:cNvSpPr/>
          <p:nvPr/>
        </p:nvSpPr>
        <p:spPr>
          <a:xfrm>
            <a:off x="6675120" y="7434072"/>
            <a:ext cx="457200" cy="457200"/>
          </a:xfrm>
          <a:prstGeom prst="ellipse">
            <a:avLst/>
          </a:prstGeom>
          <a:solidFill>
            <a:srgbClr val="128D96"/>
          </a:solidFill>
          <a:ln w="12700">
            <a:solidFill>
              <a:srgbClr val="128D9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75120" y="7434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0" y="71780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scores across seeds to reduce dependence on one EM solution.</a:t>
            </a:r>
            <a:endParaRPr lang="en-US" sz="1600" dirty="0"/>
          </a:p>
        </p:txBody>
      </p:sp>
      <p:sp>
        <p:nvSpPr>
          <p:cNvPr id="22" name="Next step 3"/>
          <p:cNvSpPr/>
          <p:nvPr/>
        </p:nvSpPr>
        <p:spPr>
          <a:xfrm>
            <a:off x="12070080" y="71780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tep badge 3"/>
          <p:cNvSpPr/>
          <p:nvPr/>
        </p:nvSpPr>
        <p:spPr>
          <a:xfrm>
            <a:off x="12298680" y="7434072"/>
            <a:ext cx="457200" cy="457200"/>
          </a:xfrm>
          <a:prstGeom prst="ellipse">
            <a:avLst/>
          </a:prstGeom>
          <a:solidFill>
            <a:srgbClr val="128D96"/>
          </a:solidFill>
          <a:ln w="12700">
            <a:solidFill>
              <a:srgbClr val="128D9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2298680" y="7434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2938760" y="71780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18 missed frauds to find features that separate them.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" y="841248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normal spending, fitted without fraud labels, puts 42 real frauds in the top 50 alerts.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84048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introduction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261872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owned one stage of the shared Phase 1 pipeline.</a:t>
            </a:r>
            <a:endParaRPr lang="en-US" sz="1800" dirty="0"/>
          </a:p>
        </p:txBody>
      </p:sp>
      <p:sp>
        <p:nvSpPr>
          <p:cNvPr id="4" name="Team step 1"/>
          <p:cNvSpPr/>
          <p:nvPr/>
        </p:nvSpPr>
        <p:spPr>
          <a:xfrm>
            <a:off x="822960" y="2057400"/>
            <a:ext cx="3557016" cy="109728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2057400"/>
            <a:ext cx="25397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split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</a:t>
            </a:r>
            <a:endParaRPr lang="en-US" sz="1600" dirty="0"/>
          </a:p>
        </p:txBody>
      </p:sp>
      <p:sp>
        <p:nvSpPr>
          <p:cNvPr id="6" name="Team step 2"/>
          <p:cNvSpPr/>
          <p:nvPr/>
        </p:nvSpPr>
        <p:spPr>
          <a:xfrm>
            <a:off x="4094226" y="2057400"/>
            <a:ext cx="3557016" cy="109728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5746" y="2057400"/>
            <a:ext cx="25397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time patterns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</a:t>
            </a:r>
            <a:endParaRPr lang="en-US" sz="1600" dirty="0"/>
          </a:p>
        </p:txBody>
      </p:sp>
      <p:sp>
        <p:nvSpPr>
          <p:cNvPr id="8" name="Team step 3"/>
          <p:cNvSpPr/>
          <p:nvPr/>
        </p:nvSpPr>
        <p:spPr>
          <a:xfrm>
            <a:off x="7365492" y="2057400"/>
            <a:ext cx="3557016" cy="109728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7012" y="2057400"/>
            <a:ext cx="25397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separation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Shagun</a:t>
            </a:r>
            <a:endParaRPr lang="en-US" sz="1600" dirty="0"/>
          </a:p>
        </p:txBody>
      </p:sp>
      <p:sp>
        <p:nvSpPr>
          <p:cNvPr id="10" name="Team step 4"/>
          <p:cNvSpPr/>
          <p:nvPr/>
        </p:nvSpPr>
        <p:spPr>
          <a:xfrm>
            <a:off x="10636758" y="2057400"/>
            <a:ext cx="3557016" cy="1097280"/>
          </a:xfrm>
          <a:prstGeom prst="chevron">
            <a:avLst/>
          </a:prstGeom>
          <a:solidFill>
            <a:srgbClr val="0E22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68278" y="2057400"/>
            <a:ext cx="25397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modelling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</a:t>
            </a:r>
            <a:endParaRPr lang="en-US" sz="1600" dirty="0"/>
          </a:p>
        </p:txBody>
      </p:sp>
      <p:sp>
        <p:nvSpPr>
          <p:cNvPr id="12" name="Team step 5"/>
          <p:cNvSpPr/>
          <p:nvPr/>
        </p:nvSpPr>
        <p:spPr>
          <a:xfrm>
            <a:off x="13908024" y="2057400"/>
            <a:ext cx="3557016" cy="1097280"/>
          </a:xfrm>
          <a:prstGeom prst="chevron">
            <a:avLst/>
          </a:prstGeom>
          <a:solidFill>
            <a:srgbClr val="128D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9544" y="2057400"/>
            <a:ext cx="25397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integration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8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</a:t>
            </a:r>
            <a:endParaRPr lang="en-US" sz="1600" dirty="0"/>
          </a:p>
        </p:txBody>
      </p:sp>
      <p:graphicFrame>
        <p:nvGraphicFramePr>
          <p:cNvPr id="9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0440"/>
          <a:ext cx="16642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0241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CONTRIBUTION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Ritik Ranjan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Data inspection &amp; split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inspection, removal of 1,081 duplicates, chronological train / validation / test split, leakage-safe preprocessing.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 Mamodiya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EDA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analysis, diurnal fraud patterns, log-amount transformation and amount distributions.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Shagun Vishnoi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EDA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divergence analysis, KS separation ranking on the training period, feature correlation heatmap.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 Raj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GMM experiments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theory, EM fitting, negative log-likelihood scoring, AIC/BIC analysis, model persistence.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Naveen Kumar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8D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GMM evaluation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integration, threshold selection on validation, test evaluation, PR curve, confusion matrix, report.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007840" y="96012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Triage">
  <a:themeElements>
    <a:clrScheme name="Fraud Triage">
      <a:dk1>
        <a:srgbClr val="1F2937"/>
      </a:dk1>
      <a:lt1>
        <a:srgbClr val="FFFFFF"/>
      </a:lt1>
      <a:dk2>
        <a:srgbClr val="0E2239"/>
      </a:dk2>
      <a:lt2>
        <a:srgbClr val="EEF2F6"/>
      </a:lt2>
      <a:accent1>
        <a:srgbClr val="128D96"/>
      </a:accent1>
      <a:accent2>
        <a:srgbClr val="A9B5C2"/>
      </a:accent2>
      <a:accent3>
        <a:srgbClr val="EFA243"/>
      </a:accent3>
      <a:accent4>
        <a:srgbClr val="5B6B7F"/>
      </a:accent4>
      <a:accent5>
        <a:srgbClr val="0E2239"/>
      </a:accent5>
      <a:accent6>
        <a:srgbClr val="5EC4CC"/>
      </a:accent6>
      <a:hlink>
        <a:srgbClr val="128D96"/>
      </a:hlink>
      <a:folHlink>
        <a:srgbClr val="5B6B7F"/>
      </a:folHlink>
    </a:clrScheme>
    <a:fontScheme name="Fraud Tri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 Fraud Triage — Phase 1</dc:title>
  <dc:subject>PptxGenJS Presentation</dc:subject>
  <dc:creator>Team T047</dc:creator>
  <cp:lastModifiedBy>Team T047</cp:lastModifiedBy>
  <cp:revision>1</cp:revision>
  <dcterms:created xsi:type="dcterms:W3CDTF">2026-10-27T07:20:21Z</dcterms:created>
  <dcterms:modified xsi:type="dcterms:W3CDTF">2026-10-27T07:20:21Z</dcterms:modified>
</cp:coreProperties>
</file>